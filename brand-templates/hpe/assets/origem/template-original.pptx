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handoutMasterIdLst>
    <p:handoutMasterId r:id="rId26"/>
  </p:handoutMasterIdLst>
  <p:sldIdLst>
    <p:sldId id="256" r:id="rId5"/>
    <p:sldId id="263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65" r:id="rId24"/>
    <p:sldId id="287" r:id="rId25"/>
  </p:sldIdLst>
  <p:sldSz cx="12192000" cy="6858000"/>
  <p:notesSz cx="6858000" cy="9144000"/>
  <p:embeddedFontLst>
    <p:embeddedFont>
      <p:font typeface="Calibri Light" panose="020F0302020204030204" pitchFamily="34" charset="0"/>
      <p:regular r:id="rId27"/>
      <p:italic r:id="rId28"/>
    </p:embeddedFont>
    <p:embeddedFont>
      <p:font typeface="Verdana" panose="020B0604030504040204" pitchFamily="34" charset="0"/>
      <p:regular r:id="rId29"/>
      <p:bold r:id="rId30"/>
      <p:italic r:id="rId31"/>
      <p:boldItalic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41A3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="" xmlns:a16="http://schemas.microsoft.com/office/drawing/2014/main" id="{7011834E-2211-42C3-9F57-177872AFD6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4A84E23B-2B64-4D16-8CC4-6D8C0865D2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AD3F9-907F-41C4-A0A1-06C120BC71DD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DDEE3093-BAE5-4CAE-8FB9-107EC98758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BA34D64C-DA1D-41A6-ADE9-4657670374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736C9-755B-4CE0-9470-1B9DD6F36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943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A507338-1624-A82B-CDEE-268EB1CB8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C116422-F48F-F161-D353-D85210F37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E2F5344B-50F7-46E5-237B-54689919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7B23B572-316E-A6B5-96D3-D6B30BF4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5AA3BFC9-3399-EFED-E2DD-9A47446B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975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2E1D72D-6301-B51F-0132-9EC5E6A9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3527FF72-2DDB-2E81-9ABA-1F2C08036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E68DF2A3-795F-C682-066D-752FE8D2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328A104-EA15-964A-B54D-543E6D54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80215F-7F7B-8379-6546-68EE5392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729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A6E10C0-7BB1-FAA6-8641-71302AD26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A0E301C9-2588-57E6-719E-44877574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C44A6125-FD1C-41AD-4C12-2CA2C938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F2A710-0F61-9353-E08D-38AC26D2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6322E94-6A9D-8620-FF14-856E24ED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8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5A33E5-E73F-CC17-0C3D-AE09D1F0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949F44B7-8692-C5F1-A91A-E45D77A95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45703615-F086-C1EB-E5AF-99B84F77B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87BE821-A4F7-5F5B-AFBB-E51DF3FF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DCC72DCF-9BD8-DC16-BD2F-40D5EDCB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9EAA3D52-D587-3BBA-744B-79022427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5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5BD905A-F0DE-FDF3-BDC4-A4239C5C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F8BC364-A57D-BD2D-AD35-C9DB150C7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21595E0A-2231-0FA6-07C4-415A945D7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1F16F660-BE56-F532-6BD9-1FAEFC4AE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9B726CCD-CEA1-194A-2722-BE6FC59F9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F0D5C2E0-14DA-27F5-2C74-5B34172D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24B3F440-C986-BD86-D301-B20B7DE8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C988512-9813-3ECE-492D-BF85F95A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465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FC2F7F4-CA35-779C-5D6A-C0E0A4754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CD5CCF7F-6811-20E2-9BF5-7A6D34CC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FCA9557B-7331-92E4-23B5-55BCA33D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3AC0AE4-8C5E-78B6-6C6A-1794D16D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89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E833DAF4-36E0-8DCC-986C-40DBA5FB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4EF5425-DAD5-7433-B2AC-FDBBF6BD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B1DB4CAE-DD08-8CD0-1253-65EA4584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7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0BC5E20-62C2-258A-7771-39673BD4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101E3C9B-7AAA-1EE7-FBE1-EFB97750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34A416D6-1CEE-4B0D-116E-0901C07CC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489E6301-8EBF-0BF4-A1FC-D1373921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BC509954-6E83-B43F-FD96-36A5C677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80C20BF3-14F7-5D65-554A-2BF9170C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90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0BCE4C9-CCA0-2555-2BDD-E59600A8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24EDEB36-4330-C7F6-2FAD-8B91F468D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BFDF1D82-DCEB-5C57-A7FE-08713F499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6CE560C2-2AC9-0EAA-E720-3610F02FE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EB96DB4C-632F-3C2F-9B3A-ADDFD4C6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5F7BA0B1-B00B-477B-D0AC-3582BF90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250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8A04734-8749-BE87-107E-B4367F6C9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59A4C73A-1B67-7D70-E9D5-65019DA80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BF7604D2-3507-A175-865A-42B4A74C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AAE19A69-1142-7513-90DD-F2F26E451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643DAF2-A9E1-7860-9923-CA9A82F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45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7A23B646-A6E5-CE5B-F410-FDF12CD03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28BE156B-5889-8E90-1D3D-793425F27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A361DE9-E9A0-727C-D5B2-F943F0D7F2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0CDCD0B7-F83F-0553-CBD2-B6480597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48238CCA-4F7A-D0EE-E829-87F9250F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43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A5C0348C-177A-4BC3-BEF9-29A3C68683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9"/>
            <a:ext cx="12192000" cy="6822821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="" xmlns:a16="http://schemas.microsoft.com/office/drawing/2014/main" id="{B4C9A29B-71D3-457E-9760-C84FA7FF17B7}"/>
              </a:ext>
            </a:extLst>
          </p:cNvPr>
          <p:cNvCxnSpPr>
            <a:cxnSpLocks/>
          </p:cNvCxnSpPr>
          <p:nvPr userDrawn="1"/>
        </p:nvCxnSpPr>
        <p:spPr>
          <a:xfrm>
            <a:off x="558021" y="774782"/>
            <a:ext cx="1122435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="" xmlns:a16="http://schemas.microsoft.com/office/drawing/2014/main" id="{83E53272-3758-4D55-A664-4B04AB9410D5}"/>
              </a:ext>
            </a:extLst>
          </p:cNvPr>
          <p:cNvCxnSpPr>
            <a:cxnSpLocks/>
          </p:cNvCxnSpPr>
          <p:nvPr userDrawn="1"/>
        </p:nvCxnSpPr>
        <p:spPr>
          <a:xfrm>
            <a:off x="673530" y="6118569"/>
            <a:ext cx="1122435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m 18">
            <a:extLst>
              <a:ext uri="{FF2B5EF4-FFF2-40B4-BE49-F238E27FC236}">
                <a16:creationId xmlns="" xmlns:a16="http://schemas.microsoft.com/office/drawing/2014/main" id="{D7A3576F-3DF0-4A12-89EB-E8486D425D3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42" y="6379283"/>
            <a:ext cx="3774658" cy="28007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CF652408-B240-4D46-80C5-EDF8E1F062A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5221" y="6242100"/>
            <a:ext cx="2107155" cy="47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1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a.hpeautos.com.br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a.hpeautos.com.br/documentation/visao-geral" TargetMode="External"/><Relationship Id="rId7" Type="http://schemas.openxmlformats.org/officeDocument/2006/relationships/hyperlink" Target="https://learnprompting.org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rompts.aidrop.news/" TargetMode="External"/><Relationship Id="rId5" Type="http://schemas.openxmlformats.org/officeDocument/2006/relationships/hyperlink" Target="https://www.aidrop.news/" TargetMode="External"/><Relationship Id="rId4" Type="http://schemas.openxmlformats.org/officeDocument/2006/relationships/hyperlink" Target="https://ia.hpeautos.com.br/documentation/politica-de-uso-de-ia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="" xmlns:a16="http://schemas.microsoft.com/office/drawing/2014/main" id="{DAEAFC56-45EE-4BF6-A122-1AEC898FB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9"/>
            <a:ext cx="12192000" cy="6822821"/>
          </a:xfrm>
          <a:prstGeom prst="rect">
            <a:avLst/>
          </a:prstGeom>
        </p:spPr>
      </p:pic>
      <p:cxnSp>
        <p:nvCxnSpPr>
          <p:cNvPr id="19" name="Conector reto 18">
            <a:extLst>
              <a:ext uri="{FF2B5EF4-FFF2-40B4-BE49-F238E27FC236}">
                <a16:creationId xmlns="" xmlns:a16="http://schemas.microsoft.com/office/drawing/2014/main" id="{4BAC27D7-9E0B-492D-9FC8-DE24C7B3F6A0}"/>
              </a:ext>
            </a:extLst>
          </p:cNvPr>
          <p:cNvCxnSpPr>
            <a:cxnSpLocks/>
          </p:cNvCxnSpPr>
          <p:nvPr/>
        </p:nvCxnSpPr>
        <p:spPr>
          <a:xfrm>
            <a:off x="477636" y="2768776"/>
            <a:ext cx="3197864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="" xmlns:a16="http://schemas.microsoft.com/office/drawing/2014/main" id="{B3CB83ED-737C-4BBE-A680-7C9C7766400A}"/>
              </a:ext>
            </a:extLst>
          </p:cNvPr>
          <p:cNvSpPr txBox="1"/>
          <p:nvPr/>
        </p:nvSpPr>
        <p:spPr>
          <a:xfrm>
            <a:off x="477635" y="1956919"/>
            <a:ext cx="112085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dirty="0" smtClean="0">
                <a:solidFill>
                  <a:srgbClr val="1F4E79"/>
                </a:solidFill>
                <a:latin typeface="MMC" panose="00000500000000000000" pitchFamily="50" charset="0"/>
              </a:rPr>
              <a:t>TREINAMENTO - HPE-IA</a:t>
            </a:r>
            <a:endParaRPr lang="pt-BR" sz="4500" dirty="0">
              <a:solidFill>
                <a:srgbClr val="1F4E79"/>
              </a:solidFill>
              <a:latin typeface="MMC" panose="00000500000000000000" pitchFamily="50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="" xmlns:a16="http://schemas.microsoft.com/office/drawing/2014/main" id="{D9F940B2-B6DD-45EB-BE6D-85A6C5CC9776}"/>
              </a:ext>
            </a:extLst>
          </p:cNvPr>
          <p:cNvSpPr txBox="1"/>
          <p:nvPr/>
        </p:nvSpPr>
        <p:spPr>
          <a:xfrm>
            <a:off x="477636" y="2817968"/>
            <a:ext cx="4767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Rafael da Silva Melo 27/03/2026</a:t>
            </a:r>
            <a:endParaRPr lang="pt-BR" sz="3000" dirty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AD6A1138-DAA8-4A2F-B3E4-A0B5DE86B7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00" y="476045"/>
            <a:ext cx="1891312" cy="19619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="" xmlns:a16="http://schemas.microsoft.com/office/drawing/2014/main" id="{1C6778F8-D379-4527-89D7-0470C7EDC7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1" y="6242656"/>
            <a:ext cx="3774658" cy="28007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="" xmlns:a16="http://schemas.microsoft.com/office/drawing/2014/main" id="{9BE0E92C-1573-45FE-94CB-4638997DAE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309" y="5943640"/>
            <a:ext cx="3021910" cy="68089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3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061280"/>
            <a:ext cx="11340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Plataforma interna de IA generativa da HPE, baseada no </a:t>
            </a:r>
            <a:r>
              <a:rPr lang="pt-BR" sz="2400" dirty="0" err="1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LibreChat</a:t>
            </a:r>
            <a:endParaRPr lang="pt-BR" sz="2400" dirty="0" smtClean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Acesso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centralizado a modelos de linguagem de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ponta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Gerenciada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pelo time de TI &amp; Inovação — com suporte e evolução contínua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620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1. O que é a HPE-IA?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710" y="2925764"/>
            <a:ext cx="3053625" cy="30536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1320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061280"/>
            <a:ext cx="11340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Seus dados ficam dentro da HPE — sem risco de vazamento para servidores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externos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Sem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necessidade de criar conta pessoal ou pagar por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acesso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Recursos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que o plano gratuito do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ChatGPT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 não oferece: agentes, RAG, múltiplos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932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2. Por </a:t>
            </a: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que usar a HPE-IA e não o </a:t>
            </a:r>
            <a:r>
              <a:rPr lang="pt-BR" sz="2400" b="1" dirty="0" err="1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ChatGPT</a:t>
            </a: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?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AutoShape 3" descr="As 3 melhores ferramentas para criar Agentes de IA - Sem Coda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81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3. Plataforma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07750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3.1 Como acessar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42034"/>
            <a:ext cx="11340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3"/>
              </a:rPr>
              <a:t>https://ia.hpeautos.com.br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3"/>
              </a:rPr>
              <a:t>/</a:t>
            </a:r>
            <a:endParaRPr lang="pt-BR" sz="2400" dirty="0" smtClean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Sem instalar nada</a:t>
            </a:r>
            <a:endParaRPr lang="pt-BR" sz="2400" dirty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13" y="3410561"/>
            <a:ext cx="5408055" cy="2564529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332" y="3410561"/>
            <a:ext cx="5096935" cy="240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4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3.2 Plataforma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061280"/>
            <a:ext cx="113403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Barra lateral: histórico de conversas organizadas por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Campo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de mensagem: onde você digita seu </a:t>
            </a:r>
            <a:r>
              <a:rPr lang="pt-BR" sz="2400" dirty="0" err="1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prompt</a:t>
            </a:r>
            <a:endParaRPr lang="pt-BR" sz="2400" dirty="0" smtClean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Seletor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de modelo: escolha o modelo adequado para cada tarefa</a:t>
            </a:r>
          </a:p>
        </p:txBody>
      </p:sp>
    </p:spTree>
    <p:extLst>
      <p:ext uri="{BB962C8B-B14F-4D97-AF65-F5344CB8AC3E}">
        <p14:creationId xmlns:p14="http://schemas.microsoft.com/office/powerpoint/2010/main" val="1400948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3.3 </a:t>
            </a: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Plataforma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402102"/>
            <a:ext cx="113403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Modelos mais rápidos: bom para rascunhos, respostas curtas, tarefas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simples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Modelos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mais avançados: melhor para análises, textos longos, raciocínio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complexo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Regra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prática: comece com o padrão e mude se precisar de mais qualidade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Modelos disponíveis — qual usar?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908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3.4 </a:t>
            </a: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Plataforma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443665"/>
            <a:ext cx="113403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Arraste ou anexe arquivos diretamente no chat (PDF, Excel, Word, imagem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IA lê o conteúdo e responde perguntas sobre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Exemplo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: "Resuma os pontos principais deste contrato"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Upload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22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4. Como falar com a plataforma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 IA responde exatamente o que você pergunta — lixo entra, lixo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sai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Um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prompt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 vago gera resposta genérica; um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prompt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 específico gera resposta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útil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boa notícia: não precisa ser técnico, só precisa ser claro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Por </a:t>
            </a:r>
            <a:r>
              <a:rPr lang="pt-BR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que o </a:t>
            </a:r>
            <a:r>
              <a:rPr lang="pt-BR" b="1" dirty="0" err="1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prompt</a:t>
            </a:r>
            <a:r>
              <a:rPr lang="pt-BR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 importa tanto?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31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4. Como falar com a plataforma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Contexto: quem você é e qual é a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situação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Tarefa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: o que exatamente você quer que a IA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faça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Formato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: como quer a resposta (lista, e-mail, tabela, resumo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...)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Restrição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: o que evitar (tom, tamanho, termos técnicos...)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Uso correto do </a:t>
            </a:r>
            <a:r>
              <a:rPr lang="pt-BR" b="1" dirty="0" err="1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prompt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3702112"/>
            <a:ext cx="11340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Errado: "Escreve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um e-mail pro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cliente“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Certo: "Sou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analista de locação na HPE. Preciso enviar um e-mail para um cliente perguntando sobre a renovação do contrato que vence em abril. Tom formal, máximo 4 parágrafos."</a:t>
            </a:r>
          </a:p>
        </p:txBody>
      </p:sp>
    </p:spTree>
    <p:extLst>
      <p:ext uri="{BB962C8B-B14F-4D97-AF65-F5344CB8AC3E}">
        <p14:creationId xmlns:p14="http://schemas.microsoft.com/office/powerpoint/2010/main" val="2912875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4. Como falar com a plataforma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Redigir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 revisar e-mails para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clientes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Resumir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contratos ou documentos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longos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Criar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checklists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 de processos 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atividades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Formatar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ou reorganizar tabelas 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Traduzir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documentos técnicos ou comunicações externas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Uso diário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63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5</a:t>
            </a: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. Agentes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Um assistente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pré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-configurado com papel, instruções e ferramentas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definidas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Você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não precisa reexplicar o contexto toda vez — ele já "sabe" o que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é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Funciona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como um colaborador especializado disponível 24h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O que é um agente?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5</a:t>
            </a: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. Agentes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Tem instruções fixas: persona, área de atuação, tom,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restrições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Pode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ter ferramentas: busca na web, execução de código, leitura de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arquivos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Pode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ter base de conhecimento própria: documentos que você sobe e ele usa como referência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O que diferencia um agente de um chat comum?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3782752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Quando usar agente vs. chat comum?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4152084"/>
            <a:ext cx="11340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Chat comum: tarefa pontual, variada, sem padrão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fixo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Agente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: tarefa repetitiva, contexto sempre igual, equipe inteira vai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usar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Regra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prática: se você vai explicar a mesma coisa mais de 3 vezes, vira agente</a:t>
            </a:r>
          </a:p>
        </p:txBody>
      </p:sp>
    </p:spTree>
    <p:extLst>
      <p:ext uri="{BB962C8B-B14F-4D97-AF65-F5344CB8AC3E}">
        <p14:creationId xmlns:p14="http://schemas.microsoft.com/office/powerpoint/2010/main" val="209513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5</a:t>
            </a: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. Agentes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Revisor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de Contratos — aponta cláusulas críticas 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inconsistências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Assistente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de E-mails — sugere respostas a clientes no tom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certo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Analista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de Planilhas — responde perguntas sobre dados de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locação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Base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de Processos — responde dúvidas internas usando os documentos da área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Agentes </a:t>
            </a:r>
            <a:r>
              <a:rPr lang="pt-BR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úteis para locação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90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5</a:t>
            </a: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. Agentes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Nome, descrição e modelo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escolhido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Instruções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: o que ele é, como deve se comportar, o que nunca deve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fazer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Ferramentas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ativadas (busca, código, arquivos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Upload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dos documentos de referência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Como criar um agente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60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5</a:t>
            </a: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. Agentes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RAG = a IA usa documentos que você forneceu como fonte de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resposta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Ela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não inventa — busca a resposta dentro do material que você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subiu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Resultado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: respostas precisas, baseadas na realidade da sua área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RAG / Base de conhecimento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618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6. Boas práticas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Sempre revise o que a IA gerou antes de usar ou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enviar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Seja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específico: quanto mais contexto, melhor a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resposta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Refine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o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prompt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 se a primeira resposta não foi boa — é normal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iterar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Use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para acelerar o trabalho, não para substituir seu julgamento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O que fazer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033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6. Boas práticas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Sempre revise o que a IA gerou antes de usar ou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enviar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Seja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específico: quanto mais contexto, melhor a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resposta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Refine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o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prompt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 se a primeira resposta não foi boa — é normal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iterar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Use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para acelerar o trabalho, não para substituir seu julgamento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O que evitar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53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7</a:t>
            </a: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. Prática livre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Pense em algo que você fez essa semana que tomou tempo — um e-mail, um resumo, uma análise, uma resposta para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cliente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Tente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resolver essa tarefa agora usando o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chat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Se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 primeira resposta não foi boa, ajuste o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prompt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 e tente de novo — isso faz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parte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Quem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quiser, explore um agente já criado e teste com um caso </a:t>
            </a: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real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Ao 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final, compartilhe com o grupo: o que funcionou, o que surpreendeu, o que não saiu como esperado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Agora é com vocês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379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7142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8. Documentação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1393788"/>
            <a:ext cx="113403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3"/>
              </a:rPr>
              <a:t>https://www.librechat.ai/docs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3"/>
              </a:rPr>
              <a:t>https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3"/>
              </a:rPr>
              <a:t>://</a:t>
            </a:r>
            <a:r>
              <a:rPr lang="pt-BR" sz="20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3"/>
              </a:rPr>
              <a:t>ia.hpeautos.com.br/documentation/visao-geral</a:t>
            </a:r>
            <a:endParaRPr lang="pt-BR" sz="2000" dirty="0" smtClean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4"/>
              </a:rPr>
              <a:t>https://</a:t>
            </a:r>
            <a:r>
              <a:rPr lang="pt-BR" sz="20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4"/>
              </a:rPr>
              <a:t>ia.hpeautos.com.br/documentation/politica-de-uso-de-ia</a:t>
            </a:r>
            <a:endParaRPr lang="pt-BR" sz="2000" dirty="0" smtClean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024456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Links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2614958"/>
            <a:ext cx="714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Recomendações</a:t>
            </a:r>
            <a:endParaRPr lang="pt-BR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63731" y="3086559"/>
            <a:ext cx="113403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5"/>
              </a:rPr>
              <a:t>https://www.aidrop.news</a:t>
            </a:r>
            <a:r>
              <a:rPr lang="pt-BR" sz="20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5"/>
              </a:rPr>
              <a:t>/</a:t>
            </a:r>
            <a:endParaRPr lang="pt-BR" sz="2000" dirty="0" smtClean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6"/>
              </a:rPr>
              <a:t>https://prompts.aidrop.news</a:t>
            </a:r>
            <a:r>
              <a:rPr lang="pt-BR" sz="20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6"/>
              </a:rPr>
              <a:t>/</a:t>
            </a:r>
            <a:endParaRPr lang="pt-BR" sz="2000" dirty="0" smtClean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7"/>
              </a:rPr>
              <a:t>https://learnprompting.org</a:t>
            </a:r>
            <a:r>
              <a:rPr lang="pt-BR" sz="20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  <a:hlinkClick r:id="rId7"/>
              </a:rPr>
              <a:t>/</a:t>
            </a:r>
            <a:endParaRPr lang="pt-BR" sz="2000" dirty="0" smtClean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729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>
            <a:extLst>
              <a:ext uri="{FF2B5EF4-FFF2-40B4-BE49-F238E27FC236}">
                <a16:creationId xmlns="" xmlns:a16="http://schemas.microsoft.com/office/drawing/2014/main" id="{C9789F05-CB63-8C5E-B2C9-4BE9D76C13D7}"/>
              </a:ext>
            </a:extLst>
          </p:cNvPr>
          <p:cNvCxnSpPr>
            <a:cxnSpLocks/>
          </p:cNvCxnSpPr>
          <p:nvPr/>
        </p:nvCxnSpPr>
        <p:spPr>
          <a:xfrm>
            <a:off x="454256" y="3330654"/>
            <a:ext cx="4369413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431F3C1E-4973-E721-A224-98027B91AED1}"/>
              </a:ext>
            </a:extLst>
          </p:cNvPr>
          <p:cNvSpPr txBox="1"/>
          <p:nvPr/>
        </p:nvSpPr>
        <p:spPr>
          <a:xfrm>
            <a:off x="378755" y="2259449"/>
            <a:ext cx="51160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0" dirty="0" smtClean="0">
                <a:latin typeface="MMC" panose="00000500000000000000" pitchFamily="50" charset="0"/>
              </a:rPr>
              <a:t>OBRIGADO!</a:t>
            </a:r>
            <a:endParaRPr lang="pt-BR" sz="7000" dirty="0">
              <a:latin typeface="MMC" panose="00000500000000000000" pitchFamily="50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="" xmlns:a16="http://schemas.microsoft.com/office/drawing/2014/main" id="{6F5563FA-66A1-4B33-88F6-2B7DA244A185}"/>
              </a:ext>
            </a:extLst>
          </p:cNvPr>
          <p:cNvSpPr txBox="1"/>
          <p:nvPr/>
        </p:nvSpPr>
        <p:spPr>
          <a:xfrm>
            <a:off x="454256" y="3330654"/>
            <a:ext cx="6412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 smtClean="0">
                <a:solidFill>
                  <a:schemeClr val="bg1">
                    <a:lumMod val="50000"/>
                  </a:schemeClr>
                </a:solidFill>
                <a:latin typeface="MMC" panose="00000500000000000000" pitchFamily="50" charset="0"/>
              </a:rPr>
              <a:t>rafaelmelo@hpeautos.com.br</a:t>
            </a:r>
            <a:endParaRPr lang="pt-BR" sz="3000" dirty="0">
              <a:solidFill>
                <a:schemeClr val="bg1">
                  <a:lumMod val="50000"/>
                </a:schemeClr>
              </a:solidFill>
              <a:latin typeface="MMC" panose="00000500000000000000" pitchFamily="50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620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TEMA 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39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to 2">
            <a:extLst>
              <a:ext uri="{FF2B5EF4-FFF2-40B4-BE49-F238E27FC236}">
                <a16:creationId xmlns="" xmlns:a16="http://schemas.microsoft.com/office/drawing/2014/main" id="{C9789F05-CB63-8C5E-B2C9-4BE9D76C13D7}"/>
              </a:ext>
            </a:extLst>
          </p:cNvPr>
          <p:cNvCxnSpPr>
            <a:cxnSpLocks/>
          </p:cNvCxnSpPr>
          <p:nvPr/>
        </p:nvCxnSpPr>
        <p:spPr>
          <a:xfrm>
            <a:off x="454256" y="3330654"/>
            <a:ext cx="4369413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431F3C1E-4973-E721-A224-98027B91AED1}"/>
              </a:ext>
            </a:extLst>
          </p:cNvPr>
          <p:cNvSpPr txBox="1"/>
          <p:nvPr/>
        </p:nvSpPr>
        <p:spPr>
          <a:xfrm>
            <a:off x="378755" y="2259449"/>
            <a:ext cx="51160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0" dirty="0" smtClean="0">
                <a:latin typeface="MMC" panose="00000500000000000000" pitchFamily="50" charset="0"/>
              </a:rPr>
              <a:t>DÚVIDAS</a:t>
            </a:r>
            <a:endParaRPr lang="pt-BR" sz="7000" dirty="0">
              <a:latin typeface="MMC" panose="00000500000000000000" pitchFamily="50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F4D84A7C-0513-4490-BB1B-B7D45FD242FD}"/>
              </a:ext>
            </a:extLst>
          </p:cNvPr>
          <p:cNvSpPr txBox="1"/>
          <p:nvPr/>
        </p:nvSpPr>
        <p:spPr>
          <a:xfrm>
            <a:off x="463731" y="198644"/>
            <a:ext cx="620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400" b="1" dirty="0">
                <a:solidFill>
                  <a:srgbClr val="1F4E79"/>
                </a:solidFill>
                <a:latin typeface="MMC OFFICE" panose="00000500000000000000" pitchFamily="2" charset="0"/>
                <a:ea typeface="Verdana" pitchFamily="34" charset="0"/>
                <a:cs typeface="Verdana" pitchFamily="34" charset="0"/>
              </a:rPr>
              <a:t>TEMA </a:t>
            </a:r>
            <a:endParaRPr lang="pt-BR" sz="2400" b="1" dirty="0">
              <a:solidFill>
                <a:schemeClr val="bg2">
                  <a:lumMod val="50000"/>
                </a:schemeClr>
              </a:solidFill>
              <a:latin typeface="MMC OFFICE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531" y="198644"/>
            <a:ext cx="858982" cy="4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221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CBD596EBAA6A4E970687CA303DC064" ma:contentTypeVersion="11" ma:contentTypeDescription="Crie um novo documento." ma:contentTypeScope="" ma:versionID="6c7eaa3a7e179285e788124659e24c0b">
  <xsd:schema xmlns:xsd="http://www.w3.org/2001/XMLSchema" xmlns:xs="http://www.w3.org/2001/XMLSchema" xmlns:p="http://schemas.microsoft.com/office/2006/metadata/properties" xmlns:ns3="9399dd9f-961f-46f4-b091-4ed345c23ff8" xmlns:ns4="7cd8ae55-2da5-4149-b22a-4635c18115c2" targetNamespace="http://schemas.microsoft.com/office/2006/metadata/properties" ma:root="true" ma:fieldsID="28740d77e0c5c6ff36a4694b0d4201a8" ns3:_="" ns4:_="">
    <xsd:import namespace="9399dd9f-961f-46f4-b091-4ed345c23ff8"/>
    <xsd:import namespace="7cd8ae55-2da5-4149-b22a-4635c18115c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99dd9f-961f-46f4-b091-4ed345c23ff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d8ae55-2da5-4149-b22a-4635c18115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cd8ae55-2da5-4149-b22a-4635c18115c2" xsi:nil="true"/>
  </documentManagement>
</p:properties>
</file>

<file path=customXml/itemProps1.xml><?xml version="1.0" encoding="utf-8"?>
<ds:datastoreItem xmlns:ds="http://schemas.openxmlformats.org/officeDocument/2006/customXml" ds:itemID="{0F30B4C5-E090-4842-8C8B-6353BEBFFB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99dd9f-961f-46f4-b091-4ed345c23ff8"/>
    <ds:schemaRef ds:uri="7cd8ae55-2da5-4149-b22a-4635c18115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4FB513-FF7E-470D-B669-0A7745D2A5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0DC1F3-89B2-477E-A5BC-72DFB7E52447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7cd8ae55-2da5-4149-b22a-4635c18115c2"/>
    <ds:schemaRef ds:uri="http://schemas.microsoft.com/office/infopath/2007/PartnerControls"/>
    <ds:schemaRef ds:uri="http://schemas.openxmlformats.org/package/2006/metadata/core-properties"/>
    <ds:schemaRef ds:uri="9399dd9f-961f-46f4-b091-4ed345c23ff8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950</Words>
  <Application>Microsoft Office PowerPoint</Application>
  <PresentationFormat>Widescreen</PresentationFormat>
  <Paragraphs>112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Arial</vt:lpstr>
      <vt:lpstr>MMC</vt:lpstr>
      <vt:lpstr>Calibri Light</vt:lpstr>
      <vt:lpstr>MMC OFFICE</vt:lpstr>
      <vt:lpstr>Verdana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 anos da Fábrica no Brasil</dc:title>
  <dc:creator>Larissa Cristina T da Silva</dc:creator>
  <cp:lastModifiedBy>Rafael Da Silva Melo</cp:lastModifiedBy>
  <cp:revision>48</cp:revision>
  <dcterms:created xsi:type="dcterms:W3CDTF">2023-03-06T13:40:34Z</dcterms:created>
  <dcterms:modified xsi:type="dcterms:W3CDTF">2026-03-26T14:08:41Z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0x010100EACBD596EBAA6A4E970687CA303DC064</vt:lpwstr>
  </property>
</Properties>
</file>